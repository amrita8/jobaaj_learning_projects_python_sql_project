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88" r:id="rId3"/>
    <p:sldId id="28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90" r:id="rId25"/>
    <p:sldId id="29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1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51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63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0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83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9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2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8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9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83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95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63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62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47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4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7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0093EE4-4CFD-4E5C-8827-59E0E81FCB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1A69F94-1E62-4B5C-899F-C9AEFF18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15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B1E3-5807-14AB-1451-E9356D08D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89550"/>
            <a:ext cx="9144000" cy="1678899"/>
          </a:xfrm>
        </p:spPr>
        <p:txBody>
          <a:bodyPr>
            <a:normAutofit/>
          </a:bodyPr>
          <a:lstStyle/>
          <a:p>
            <a:r>
              <a:rPr lang="en-US" b="1" dirty="0"/>
              <a:t>Navigating the future of Online Shopping</a:t>
            </a:r>
          </a:p>
        </p:txBody>
      </p:sp>
    </p:spTree>
    <p:extLst>
      <p:ext uri="{BB962C8B-B14F-4D97-AF65-F5344CB8AC3E}">
        <p14:creationId xmlns:p14="http://schemas.microsoft.com/office/powerpoint/2010/main" val="3239341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AD45-7E83-41D8-C4D5-41873A58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A937-FB20-797E-3462-60F565B1C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632"/>
            <a:ext cx="9144000" cy="626891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Company Background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2ECD460-B50F-3958-FAB1-F0336D263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212" y="2613391"/>
            <a:ext cx="987157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E-commerce Retailer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operating across Brazil with diverse product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 connects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customers, sellers, and logistics providers.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dataset containing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orders, customers payments, products, and sellers.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Business challenge: extract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actionable insights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from data to improve growth, retention, and revenue.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534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4D372-CFA1-CBB7-9BBF-83B715D69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535B-431C-0593-53D6-76DC110DC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632"/>
            <a:ext cx="9144000" cy="626891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What This Analysis Will Do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CA3644-442D-86A6-8C05-9DCE87FCA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179" y="1997839"/>
            <a:ext cx="976964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 key insights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customer behavior, sales trends, and revenue drivers.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 &amp; visualization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answer important business questions like: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cities/states have the most customers?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 sales differ across product categories?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YoY growth &amp; retention rate?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</a:rPr>
              <a:t>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 are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customers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contributing to revenue?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visualizations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recommendations to support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decision making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684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BE165-D2F1-0F57-0D39-DDEAE420D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185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BASIC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3E2EB-C9E5-EE6F-79A5-4B95412BC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8464"/>
            <a:ext cx="5075421" cy="564264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DB3130-09DA-4F89-AC53-F242502C36F6}"/>
              </a:ext>
            </a:extLst>
          </p:cNvPr>
          <p:cNvSpPr txBox="1">
            <a:spLocks/>
          </p:cNvSpPr>
          <p:nvPr/>
        </p:nvSpPr>
        <p:spPr>
          <a:xfrm>
            <a:off x="1020580" y="839449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1. List all unique cities where customers are located.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D35E84-2E8F-B249-C38F-FA150E187195}"/>
              </a:ext>
            </a:extLst>
          </p:cNvPr>
          <p:cNvSpPr txBox="1">
            <a:spLocks/>
          </p:cNvSpPr>
          <p:nvPr/>
        </p:nvSpPr>
        <p:spPr>
          <a:xfrm>
            <a:off x="6278380" y="1778464"/>
            <a:ext cx="5075420" cy="5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SQL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92EF80-A744-7F14-4F5E-1AB780631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563" y="2455964"/>
            <a:ext cx="3222885" cy="5475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D3FD68-0747-CEAC-18B4-5B14E1A37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748" y="3509762"/>
            <a:ext cx="2601174" cy="2935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F2B9EF-879F-7858-1FE0-DCD5E26FE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751" y="2455964"/>
            <a:ext cx="5563186" cy="168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045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0F0F8-96CA-2E4A-4BB9-8B58DA0D0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E9A2-4E4C-6F8F-0AD7-3D347E74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185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BASIC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E703B-FB4C-9806-D144-BB8F7B111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8464"/>
            <a:ext cx="5075421" cy="564264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951F5A-588B-4056-8677-ED4DF0749921}"/>
              </a:ext>
            </a:extLst>
          </p:cNvPr>
          <p:cNvSpPr txBox="1">
            <a:spLocks/>
          </p:cNvSpPr>
          <p:nvPr/>
        </p:nvSpPr>
        <p:spPr>
          <a:xfrm>
            <a:off x="1020580" y="839449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2. Count the number of orders placed in 2017.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24C42F-BE79-71E0-A5A2-9A4B45784193}"/>
              </a:ext>
            </a:extLst>
          </p:cNvPr>
          <p:cNvSpPr txBox="1">
            <a:spLocks/>
          </p:cNvSpPr>
          <p:nvPr/>
        </p:nvSpPr>
        <p:spPr>
          <a:xfrm>
            <a:off x="6278380" y="1778464"/>
            <a:ext cx="5075420" cy="5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SQL Code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4E4C49-F63F-3FD8-3FEF-364207172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33" y="2717478"/>
            <a:ext cx="3601387" cy="11349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32443FC-F15F-44C7-E394-970414FC2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032" y="4310457"/>
            <a:ext cx="1783829" cy="710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9FF3E3-5F5A-20A9-14D0-BE56D9F2C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579" y="2717478"/>
            <a:ext cx="6005863" cy="142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75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4BA06-BBAB-922D-3C3F-596072CD9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5C4E-57B6-E818-EFEC-3E13715B4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185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BASIC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05AA6-95AF-D899-6534-8180A0F77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820"/>
            <a:ext cx="5075421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D60E5F-E41B-B0DF-0290-33AD904355F4}"/>
              </a:ext>
            </a:extLst>
          </p:cNvPr>
          <p:cNvSpPr txBox="1">
            <a:spLocks/>
          </p:cNvSpPr>
          <p:nvPr/>
        </p:nvSpPr>
        <p:spPr>
          <a:xfrm>
            <a:off x="1020580" y="764499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3. Find the total sales per category.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EB5DAA-D167-9FB0-2E33-86A99D9288E6}"/>
              </a:ext>
            </a:extLst>
          </p:cNvPr>
          <p:cNvSpPr txBox="1">
            <a:spLocks/>
          </p:cNvSpPr>
          <p:nvPr/>
        </p:nvSpPr>
        <p:spPr>
          <a:xfrm>
            <a:off x="6278380" y="1238820"/>
            <a:ext cx="5075420" cy="5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SQL Code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4952ED-A1B1-7EB4-E5A6-720005F6C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983" y="1818078"/>
            <a:ext cx="2997122" cy="18994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A53EE4-9946-7067-DAF4-2483EB6FB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805" y="3870500"/>
            <a:ext cx="2343477" cy="2781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E4A6F3-5E66-07D5-4D04-81FBB5202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579" y="1818076"/>
            <a:ext cx="6374831" cy="408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229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1BFE7-27F3-A1E3-9940-546331422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E30E-F481-BFD5-96DE-96F2A69D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185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BASIC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6BAA6-42E3-77F5-2992-7A3ACA69F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820"/>
            <a:ext cx="5075421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277714-3D21-105A-7B2B-385DFFE4484C}"/>
              </a:ext>
            </a:extLst>
          </p:cNvPr>
          <p:cNvSpPr txBox="1">
            <a:spLocks/>
          </p:cNvSpPr>
          <p:nvPr/>
        </p:nvSpPr>
        <p:spPr>
          <a:xfrm>
            <a:off x="1166961" y="739581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4. Calculate the percentage of orders that were paid in installments.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7576A0-A22C-F620-F1EB-4767A81E1DFB}"/>
              </a:ext>
            </a:extLst>
          </p:cNvPr>
          <p:cNvSpPr txBox="1">
            <a:spLocks/>
          </p:cNvSpPr>
          <p:nvPr/>
        </p:nvSpPr>
        <p:spPr>
          <a:xfrm>
            <a:off x="6278380" y="1238820"/>
            <a:ext cx="5075420" cy="5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SQL Code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465864-9C27-52FD-A4CE-04EC3A2B7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961" y="2288841"/>
            <a:ext cx="5257800" cy="21932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98CE51-B7A3-06F7-7238-11F43BBA2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705" y="2401715"/>
            <a:ext cx="4671095" cy="21932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1EBCCF-CFE6-940E-4D50-8F3F0047C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704" y="4812038"/>
            <a:ext cx="2629157" cy="68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67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5D708-55DD-AFAD-699E-92FF8CE0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EA0E1-7086-68E6-B977-82D188422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185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BASIC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8FD4E-741A-8D1B-2275-425DEA630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820"/>
            <a:ext cx="5075421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FC0726-4816-FABD-DBBF-E9D9B831783B}"/>
              </a:ext>
            </a:extLst>
          </p:cNvPr>
          <p:cNvSpPr txBox="1">
            <a:spLocks/>
          </p:cNvSpPr>
          <p:nvPr/>
        </p:nvSpPr>
        <p:spPr>
          <a:xfrm>
            <a:off x="1166960" y="754898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5. Count the number of customers from each state.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DDC712-2154-5452-8A67-06B214D7A2AB}"/>
              </a:ext>
            </a:extLst>
          </p:cNvPr>
          <p:cNvSpPr txBox="1">
            <a:spLocks/>
          </p:cNvSpPr>
          <p:nvPr/>
        </p:nvSpPr>
        <p:spPr>
          <a:xfrm>
            <a:off x="6278380" y="1238820"/>
            <a:ext cx="5075420" cy="5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SQL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F58B36-5E23-40D1-82ED-04B258F9B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960" y="2045963"/>
            <a:ext cx="5833447" cy="44964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0F8ECA-2DFD-DD13-CAE7-F5B938052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584" y="2088053"/>
            <a:ext cx="2625963" cy="1449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A41D54-8AD9-96D1-42A9-A9FB0A772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583" y="3739468"/>
            <a:ext cx="2625963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0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D6655-9280-30A4-18AF-116F70E0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4069-7572-2E2B-BBBE-7395AAF5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185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INTERMEDIATE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B8A7A-A51A-F1E9-4EB3-0E7E1C442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820"/>
            <a:ext cx="5075421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862D58-E0BA-4B21-AF82-4AC0A5877B19}"/>
              </a:ext>
            </a:extLst>
          </p:cNvPr>
          <p:cNvSpPr txBox="1">
            <a:spLocks/>
          </p:cNvSpPr>
          <p:nvPr/>
        </p:nvSpPr>
        <p:spPr>
          <a:xfrm>
            <a:off x="1166960" y="729695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1. Calculate the number of orders per month in 2018</a:t>
            </a:r>
            <a:r>
              <a:rPr lang="en-US" dirty="0"/>
              <a:t>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3A85004-2FF3-0E06-1AF0-FE304F611B95}"/>
              </a:ext>
            </a:extLst>
          </p:cNvPr>
          <p:cNvSpPr txBox="1">
            <a:spLocks/>
          </p:cNvSpPr>
          <p:nvPr/>
        </p:nvSpPr>
        <p:spPr>
          <a:xfrm>
            <a:off x="6278380" y="1238820"/>
            <a:ext cx="5075420" cy="5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SQL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08E50-57A3-EB8A-7B73-B2A5E6339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960" y="1803083"/>
            <a:ext cx="4442038" cy="41030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0F153B-09BC-AB5E-2A46-080DB012F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7697"/>
            <a:ext cx="5376934" cy="14963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AE6DB3-5E30-BB9C-AA90-F9061A8B2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03950"/>
            <a:ext cx="2178570" cy="243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83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19229-8CA7-278B-FDAC-2569C95E5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3A2D-30A9-B700-6730-9D20508C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185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INTERMEDIATE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0B4E2-751C-E043-8F8C-397C8B315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820"/>
            <a:ext cx="5075421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60577D-0C12-7DC4-ED65-2D05DC7D4FC9}"/>
              </a:ext>
            </a:extLst>
          </p:cNvPr>
          <p:cNvSpPr txBox="1">
            <a:spLocks/>
          </p:cNvSpPr>
          <p:nvPr/>
        </p:nvSpPr>
        <p:spPr>
          <a:xfrm>
            <a:off x="1166960" y="718009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/>
              <a:t>2. Find the average number of products per order, grouped by customer city.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78DA20-2657-A676-7987-74DBC4B861CB}"/>
              </a:ext>
            </a:extLst>
          </p:cNvPr>
          <p:cNvSpPr txBox="1">
            <a:spLocks/>
          </p:cNvSpPr>
          <p:nvPr/>
        </p:nvSpPr>
        <p:spPr>
          <a:xfrm>
            <a:off x="6278380" y="1238820"/>
            <a:ext cx="5075420" cy="5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SQL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F76CE4-5744-DB13-BD37-C88F9446C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960" y="1803084"/>
            <a:ext cx="5862359" cy="37186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FFF534-64BF-0AD6-23BE-DD9AE63EA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113" y="1803084"/>
            <a:ext cx="4696480" cy="29341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ADAB5F-0597-BF7C-85C4-BFEBA5076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319" y="5058577"/>
            <a:ext cx="2714288" cy="128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56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FEEB-0A1B-C9B9-109A-76AFBB5BC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9083F-AEDD-6EFE-0E21-5E29DF8C5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185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INTERMEDIATE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94B9B-65EE-162B-90F8-225A3FFF5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366"/>
            <a:ext cx="5075421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D3E06F-748A-2EE9-F0FF-0875C023F0D3}"/>
              </a:ext>
            </a:extLst>
          </p:cNvPr>
          <p:cNvSpPr txBox="1">
            <a:spLocks/>
          </p:cNvSpPr>
          <p:nvPr/>
        </p:nvSpPr>
        <p:spPr>
          <a:xfrm>
            <a:off x="857253" y="853523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3. Calculate the percentage of total revenue contributed by each product category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CA1451-391B-968D-CE98-994B3F0833DA}"/>
              </a:ext>
            </a:extLst>
          </p:cNvPr>
          <p:cNvSpPr txBox="1">
            <a:spLocks/>
          </p:cNvSpPr>
          <p:nvPr/>
        </p:nvSpPr>
        <p:spPr>
          <a:xfrm>
            <a:off x="6297433" y="1573197"/>
            <a:ext cx="5075420" cy="5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SQL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3EDB71-6A56-44B5-4535-5215E9FEA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77958"/>
            <a:ext cx="5276853" cy="37818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ABF930-7EAC-807B-47BF-B56DA542B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658" y="2137461"/>
            <a:ext cx="4882142" cy="24968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EDD0A0-24F4-485C-6B02-6375D27B0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995" y="4744054"/>
            <a:ext cx="2325331" cy="156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625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D509E-6ABA-3A11-A31B-BB805B36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1FBE-0233-C643-A9DF-43B8229D2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185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INTERMEDIATE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28DC8-D5E0-AF02-C1A6-9E8716732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209" y="1470040"/>
            <a:ext cx="5075421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168003-57A8-3221-8531-C116E5A1D4F1}"/>
              </a:ext>
            </a:extLst>
          </p:cNvPr>
          <p:cNvSpPr txBox="1">
            <a:spLocks/>
          </p:cNvSpPr>
          <p:nvPr/>
        </p:nvSpPr>
        <p:spPr>
          <a:xfrm>
            <a:off x="1181950" y="873692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4. Identify the correlation between product price and the number of times a product has been purchased.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9DB717-705E-8124-2482-4182B9CD1CAA}"/>
              </a:ext>
            </a:extLst>
          </p:cNvPr>
          <p:cNvSpPr txBox="1">
            <a:spLocks/>
          </p:cNvSpPr>
          <p:nvPr/>
        </p:nvSpPr>
        <p:spPr>
          <a:xfrm>
            <a:off x="6278380" y="1437956"/>
            <a:ext cx="5075420" cy="5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SQL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C5066C-E27B-BC05-2D2B-4C296A157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464" y="2451395"/>
            <a:ext cx="4320915" cy="15654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C6AE8-DC6E-ECE8-7513-3A8BC2B75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00" y="2002219"/>
            <a:ext cx="5772956" cy="35441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54F323-13AE-1E27-9B5E-D7AB66DC5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00" y="5719697"/>
            <a:ext cx="2462566" cy="69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91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A564-37E4-531A-D892-B615F9239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117B-97E6-00D7-205E-1E360D31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185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INTERMEDIATE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5331E-B916-D911-317A-B2323E60B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209" y="1453998"/>
            <a:ext cx="5075421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85797B-1CE1-703E-4B61-9A8321081BB0}"/>
              </a:ext>
            </a:extLst>
          </p:cNvPr>
          <p:cNvSpPr txBox="1">
            <a:spLocks/>
          </p:cNvSpPr>
          <p:nvPr/>
        </p:nvSpPr>
        <p:spPr>
          <a:xfrm>
            <a:off x="1181950" y="873692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5. Calculate the total revenue generated by each seller, and rank them by revenue.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E2967B-19C2-48D3-6607-9051B4BB74EC}"/>
              </a:ext>
            </a:extLst>
          </p:cNvPr>
          <p:cNvSpPr txBox="1">
            <a:spLocks/>
          </p:cNvSpPr>
          <p:nvPr/>
        </p:nvSpPr>
        <p:spPr>
          <a:xfrm>
            <a:off x="6278380" y="1518580"/>
            <a:ext cx="5075420" cy="5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SQL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572BDB-8561-0476-A053-B55FB64B4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149" y="2088677"/>
            <a:ext cx="5263193" cy="4718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A48D25-7906-DBFA-92C0-B67B78D39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092" y="2098471"/>
            <a:ext cx="4529342" cy="16874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E9301F-1DE1-A275-3ADB-3966FBA32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091" y="3951744"/>
            <a:ext cx="4650955" cy="256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6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F951C-8E95-1650-3469-626D5B9B0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DAB74-6EEE-EDF2-4CB4-4B8A68425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185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ADVANCED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19623-1BB6-A97E-B924-297CCF9D7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209" y="1437956"/>
            <a:ext cx="10017338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7479A9-7752-4A7A-A315-33BAC1D3536D}"/>
              </a:ext>
            </a:extLst>
          </p:cNvPr>
          <p:cNvSpPr txBox="1">
            <a:spLocks/>
          </p:cNvSpPr>
          <p:nvPr/>
        </p:nvSpPr>
        <p:spPr>
          <a:xfrm>
            <a:off x="1181950" y="873692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1. Calculate the moving average of order values for each customer over their order history.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0A1C28-4C11-6930-1FE0-9A6D1E249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950" y="2036462"/>
            <a:ext cx="9389797" cy="375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79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AE5B-8C68-F8AD-A57C-9C3C1C91B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D1E3B-562F-7CFC-2DF5-7676FFCE2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185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ADVANCED PROBLEMS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B6854A-C60D-97CF-B7B2-56926EAB2CAF}"/>
              </a:ext>
            </a:extLst>
          </p:cNvPr>
          <p:cNvSpPr txBox="1">
            <a:spLocks/>
          </p:cNvSpPr>
          <p:nvPr/>
        </p:nvSpPr>
        <p:spPr>
          <a:xfrm>
            <a:off x="1181950" y="873692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dirty="0"/>
              <a:t>1. Calculate the moving average of order values for each customer over their order history.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9BF0F7-11BB-D798-FF9F-78A35C78500C}"/>
              </a:ext>
            </a:extLst>
          </p:cNvPr>
          <p:cNvSpPr txBox="1">
            <a:spLocks/>
          </p:cNvSpPr>
          <p:nvPr/>
        </p:nvSpPr>
        <p:spPr>
          <a:xfrm>
            <a:off x="1181950" y="1437956"/>
            <a:ext cx="10171850" cy="4064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SQL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52B2CB-0CA3-E70E-E801-D7BBC5C50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240" y="1924625"/>
            <a:ext cx="7128921" cy="27917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9CEF5A-CE91-3D76-391E-4A8504A4D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836" y="4764505"/>
            <a:ext cx="6630325" cy="193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68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0E933-55AA-5EB5-83DF-E27887B29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1A187-1D4B-735F-77B8-EBAC10998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13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ADVANCED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362E7-F7DE-3FDD-C64B-965A18E50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209" y="860444"/>
            <a:ext cx="10017338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BC4BB1-C1CD-C979-06E6-53C05D358357}"/>
              </a:ext>
            </a:extLst>
          </p:cNvPr>
          <p:cNvSpPr txBox="1">
            <a:spLocks/>
          </p:cNvSpPr>
          <p:nvPr/>
        </p:nvSpPr>
        <p:spPr>
          <a:xfrm>
            <a:off x="1181950" y="456600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2. Calculate the cumulative sales per month for each year.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8D2EC8-7FA7-B55E-B227-699F0A22F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950" y="1458951"/>
            <a:ext cx="9763087" cy="39472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BA81DC-A886-E71D-7E53-58AF7ED3B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963" y="5388474"/>
            <a:ext cx="5234048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13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E9472-9701-BD12-028C-590D26F2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DDD06-0FFC-0402-C96C-8124D796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13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ADVANCED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1DCA7-A1BC-3412-9383-C3ECF519A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209" y="860444"/>
            <a:ext cx="10017338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SQL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34FF57-A646-637E-A7E4-EB49CAB745C4}"/>
              </a:ext>
            </a:extLst>
          </p:cNvPr>
          <p:cNvSpPr txBox="1">
            <a:spLocks/>
          </p:cNvSpPr>
          <p:nvPr/>
        </p:nvSpPr>
        <p:spPr>
          <a:xfrm>
            <a:off x="1181950" y="456600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2. Calculate the cumulative sales per month for each year.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1974D5-AD22-9EA8-54DA-9623445A4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453" y="1423828"/>
            <a:ext cx="9318338" cy="25866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A8F00CA-1D09-9E76-F337-8E34CFE63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453" y="4076606"/>
            <a:ext cx="4604084" cy="25866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7A480F1-591B-6287-97EF-29E6E3044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143" y="4204943"/>
            <a:ext cx="4488648" cy="245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99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F3415-1F03-017D-104E-7826F035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CB2DA-9495-91BE-9E43-EC556EDD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13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ADVANCED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792AE-8BE5-64E2-D46F-CF3EC6A3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209" y="1133158"/>
            <a:ext cx="10017338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21A64C-4500-3661-591D-A3501F086473}"/>
              </a:ext>
            </a:extLst>
          </p:cNvPr>
          <p:cNvSpPr txBox="1">
            <a:spLocks/>
          </p:cNvSpPr>
          <p:nvPr/>
        </p:nvSpPr>
        <p:spPr>
          <a:xfrm>
            <a:off x="1181950" y="520768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3. Calculate the year-over-year growth rate of total sales.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992438-622E-9351-C130-C23B85641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407" y="2066388"/>
            <a:ext cx="7602942" cy="248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080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9A646-9E3E-CF0F-A6E6-A6AD5C1F9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2D00-D562-21B8-1736-C82CA2CEF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13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ADVANCED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E471-BB3D-FAD2-185C-AE0131CDA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209" y="1133158"/>
            <a:ext cx="10017338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SQL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979ED6-3196-3B52-20D7-E9D2FBD12284}"/>
              </a:ext>
            </a:extLst>
          </p:cNvPr>
          <p:cNvSpPr txBox="1">
            <a:spLocks/>
          </p:cNvSpPr>
          <p:nvPr/>
        </p:nvSpPr>
        <p:spPr>
          <a:xfrm>
            <a:off x="1181950" y="520768"/>
            <a:ext cx="10515600" cy="564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3. Calculate the year-over-year growth rate of total sales.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0C7EA5-15FC-C813-7AE5-4EC80DC8A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19" y="1793674"/>
            <a:ext cx="5756912" cy="4027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E38250-B5C6-DE49-72AB-8CCED3769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918" y="2017148"/>
            <a:ext cx="3341736" cy="101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9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8E76A-85EC-6ECB-89D1-0262C8FDB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76FC5-90E7-C80C-72D6-421D4C210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13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ADVANCED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E4CFC-6043-0EBA-5DB3-FEC62C7B4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322" y="1673359"/>
            <a:ext cx="10017338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B8B9E2-68C5-0D91-DE7B-53EE56C10CDF}"/>
              </a:ext>
            </a:extLst>
          </p:cNvPr>
          <p:cNvSpPr txBox="1">
            <a:spLocks/>
          </p:cNvSpPr>
          <p:nvPr/>
        </p:nvSpPr>
        <p:spPr>
          <a:xfrm>
            <a:off x="817191" y="558714"/>
            <a:ext cx="10515600" cy="11387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4. Calculate the retention rate of customers, defined as the percentage of customers who make another purchase within 6 months of their first purchase.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85B758-F9FB-6736-4BC8-079CC5E63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288" y="2657449"/>
            <a:ext cx="9375423" cy="225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57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5627E-2AE2-1641-C6D6-6D7AA843A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D0ED7-24E1-EE8F-09B0-A01D3FA43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13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ADVANCED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122AE-F39D-6DBB-4962-CF7B3907C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322" y="1673359"/>
            <a:ext cx="10017338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SQL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BB2461-C0D8-A204-5607-59F62B2BADBE}"/>
              </a:ext>
            </a:extLst>
          </p:cNvPr>
          <p:cNvSpPr txBox="1">
            <a:spLocks/>
          </p:cNvSpPr>
          <p:nvPr/>
        </p:nvSpPr>
        <p:spPr>
          <a:xfrm>
            <a:off x="817191" y="558714"/>
            <a:ext cx="10515600" cy="11387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4. Calculate the retention rate of customers, defined as the percentage of customers who make another purchase within 6 months of their first purchase.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C03FE-A93F-291F-8FA0-A010D38C5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22" y="2381340"/>
            <a:ext cx="5895952" cy="4168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440723-B6D2-5353-1D92-A15457266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925" y="3035056"/>
            <a:ext cx="2244901" cy="84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4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0C0E5-D0FE-71DE-28C8-C8149B9AB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46846-83E0-03BD-B412-30C541AC1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13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ADVANCED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624A1-6894-9F7F-B20E-000DD61E8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322" y="1270276"/>
            <a:ext cx="10017338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Python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42F7B3-AB56-6626-E18C-77697B1CB935}"/>
              </a:ext>
            </a:extLst>
          </p:cNvPr>
          <p:cNvSpPr txBox="1">
            <a:spLocks/>
          </p:cNvSpPr>
          <p:nvPr/>
        </p:nvSpPr>
        <p:spPr>
          <a:xfrm>
            <a:off x="817191" y="644394"/>
            <a:ext cx="10515600" cy="564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5. Identify the top 3 customers who spent the most money in each year.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21B957-25C8-9183-AB11-FA5FE0C23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74" y="1992409"/>
            <a:ext cx="10752051" cy="21468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568E20-F6E1-8266-0182-D662B74DF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265054"/>
            <a:ext cx="5885621" cy="23122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0B1F1B-1973-3DBC-5709-58D3FA7D6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341" y="4265054"/>
            <a:ext cx="1368721" cy="231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81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FF2E1-DE08-783D-350A-FFF965A8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CEBF-F9BC-11F6-2FE1-14799C707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13"/>
            <a:ext cx="10515600" cy="564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ADVANCED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9D097-B643-A717-D6EA-9D80A7F4E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322" y="1270276"/>
            <a:ext cx="10017338" cy="564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SQL Code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05E088-FF99-852B-FCC1-0E4224C8F829}"/>
              </a:ext>
            </a:extLst>
          </p:cNvPr>
          <p:cNvSpPr txBox="1">
            <a:spLocks/>
          </p:cNvSpPr>
          <p:nvPr/>
        </p:nvSpPr>
        <p:spPr>
          <a:xfrm>
            <a:off x="817191" y="644394"/>
            <a:ext cx="10515600" cy="564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5. Identify the top 3 customers who spent the most money in each year.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90957C-EF5F-87CF-EC45-04E83368D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61" y="2066196"/>
            <a:ext cx="5689171" cy="42305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B1C3DF-3165-E939-850F-04BB8045B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232" y="2948512"/>
            <a:ext cx="4261375" cy="234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47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0DB26-A668-540D-D588-E4669D2CF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34D14-DB3B-29A5-5036-FAC1A6B85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632"/>
            <a:ext cx="9144000" cy="626891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268F619-F553-FB86-5EA8-56B5CF4A6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349" y="2151727"/>
            <a:ext cx="105293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Strong sales in certain </a:t>
            </a:r>
            <a:r>
              <a:rPr lang="en-US" sz="2000" b="1" dirty="0"/>
              <a:t>cities/states</a:t>
            </a:r>
            <a:r>
              <a:rPr lang="en-US" sz="2000" dirty="0"/>
              <a:t> → potential to scale logistics &amp; marketing there.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Category analysis</a:t>
            </a:r>
            <a:r>
              <a:rPr lang="en-US" sz="2000" dirty="0"/>
              <a:t> shows top revenue drivers but also highlights underperforming categories.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Installment payments</a:t>
            </a:r>
            <a:r>
              <a:rPr lang="en-US" sz="2000" dirty="0"/>
              <a:t> play a role in purchase decisions → financial flexibility matters.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Customer </a:t>
            </a:r>
            <a:r>
              <a:rPr lang="en-US" sz="2000" b="1" dirty="0"/>
              <a:t>retention rate is low</a:t>
            </a:r>
            <a:r>
              <a:rPr lang="en-US" sz="2000" dirty="0"/>
              <a:t> → high focus on repeat sales strategy is needed.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few </a:t>
            </a:r>
            <a:r>
              <a:rPr lang="en-US" sz="2000" b="1" dirty="0"/>
              <a:t>top customers contribute disproportionately</a:t>
            </a:r>
            <a:r>
              <a:rPr lang="en-US" sz="2000" dirty="0"/>
              <a:t> to revenue.</a:t>
            </a:r>
          </a:p>
        </p:txBody>
      </p:sp>
    </p:spTree>
    <p:extLst>
      <p:ext uri="{BB962C8B-B14F-4D97-AF65-F5344CB8AC3E}">
        <p14:creationId xmlns:p14="http://schemas.microsoft.com/office/powerpoint/2010/main" val="3638625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D5C4E-6698-7D02-0745-A2D9A072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75291-C1FF-E909-E5C8-D652D4084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632"/>
            <a:ext cx="9144000" cy="626891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RECOMMENDATIONS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83D8991-D809-5FE4-C931-3ED283D5F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864" y="1843950"/>
            <a:ext cx="969227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Expand in High-Demand Regions</a:t>
            </a:r>
            <a:r>
              <a:rPr lang="en-US" sz="2000" dirty="0"/>
              <a:t> → prioritize cities/states with most unique customers.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Category-Specific Marketing</a:t>
            </a:r>
            <a:r>
              <a:rPr lang="en-US" sz="2000" dirty="0"/>
              <a:t> → promote bestsellers, discount underperforming categories.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Retention Programs</a:t>
            </a:r>
            <a:r>
              <a:rPr lang="en-US" sz="2000" dirty="0"/>
              <a:t> → loyalty rewards, personalized offers to boost repeat orders.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Financial Options</a:t>
            </a:r>
            <a:r>
              <a:rPr lang="en-US" sz="2000" dirty="0"/>
              <a:t> → enhance installment/EMI schemes to drive conversions.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High-Value Customer Strategy</a:t>
            </a:r>
            <a:r>
              <a:rPr lang="en-US" sz="2000" dirty="0"/>
              <a:t> → exclusive deals &amp; premium support for top spenders.</a:t>
            </a:r>
          </a:p>
        </p:txBody>
      </p:sp>
    </p:spTree>
    <p:extLst>
      <p:ext uri="{BB962C8B-B14F-4D97-AF65-F5344CB8AC3E}">
        <p14:creationId xmlns:p14="http://schemas.microsoft.com/office/powerpoint/2010/main" val="4416024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589</TotalTime>
  <Words>663</Words>
  <Application>Microsoft Office PowerPoint</Application>
  <PresentationFormat>Widescreen</PresentationFormat>
  <Paragraphs>96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Century Gothic</vt:lpstr>
      <vt:lpstr>Mesh</vt:lpstr>
      <vt:lpstr>Navigating the future of Online Shopping</vt:lpstr>
      <vt:lpstr>Company Background</vt:lpstr>
      <vt:lpstr>What This Analysis Will Do</vt:lpstr>
      <vt:lpstr>BASIC PROBLEMS</vt:lpstr>
      <vt:lpstr>BASIC PROBLEMS</vt:lpstr>
      <vt:lpstr>BASIC PROBLEMS</vt:lpstr>
      <vt:lpstr>BASIC PROBLEMS</vt:lpstr>
      <vt:lpstr>BASIC PROBLEMS</vt:lpstr>
      <vt:lpstr>INTERMEDIATE PROBLEMS</vt:lpstr>
      <vt:lpstr>INTERMEDIATE PROBLEMS</vt:lpstr>
      <vt:lpstr>INTERMEDIATE PROBLEMS</vt:lpstr>
      <vt:lpstr>INTERMEDIATE PROBLEMS</vt:lpstr>
      <vt:lpstr>INTERMEDIATE PROBLEMS</vt:lpstr>
      <vt:lpstr>ADVANCED PROBLEMS</vt:lpstr>
      <vt:lpstr>ADVANCED PROBLEMS</vt:lpstr>
      <vt:lpstr>ADVANCED PROBLEMS</vt:lpstr>
      <vt:lpstr>ADVANCED PROBLEMS</vt:lpstr>
      <vt:lpstr>ADVANCED PROBLEMS</vt:lpstr>
      <vt:lpstr>ADVANCED PROBLEMS</vt:lpstr>
      <vt:lpstr>ADVANCED PROBLEMS</vt:lpstr>
      <vt:lpstr>ADVANCED PROBLEMS</vt:lpstr>
      <vt:lpstr>ADVANCED PROBLEMS</vt:lpstr>
      <vt:lpstr>ADVANCED PROBLEMS</vt:lpstr>
      <vt:lpstr>CONCLUSION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Amrita Saha</dc:creator>
  <cp:lastModifiedBy>Amrita Saha</cp:lastModifiedBy>
  <cp:revision>23</cp:revision>
  <dcterms:created xsi:type="dcterms:W3CDTF">2025-09-16T10:42:29Z</dcterms:created>
  <dcterms:modified xsi:type="dcterms:W3CDTF">2025-09-19T08:16:37Z</dcterms:modified>
</cp:coreProperties>
</file>